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gGduXZKAIqNM9Qc0lsCLhixGst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58576A-922B-4280-8FC9-9B384B1DEBE4}">
  <a:tblStyle styleId="{EF58576A-922B-4280-8FC9-9B384B1DEBE4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 Coding : Coding từ trên xuống</a:t>
            </a:r>
            <a:endParaRPr sz="2400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Bottom-up Coding: Coding từ dưới lên</a:t>
            </a:r>
            <a:endParaRPr sz="2400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13" name="Google Shape;113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20" name="Google Shape;120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27" name="Google Shape;127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35" name="Google Shape;135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51" name="Google Shape;151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58" name="Google Shape;158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65" name="Google Shape;165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77" name="Google Shape;177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83" name="Google Shape;183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92" name="Google Shape;192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05" name="Google Shape;205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12" name="Google Shape;212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19" name="Google Shape;219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25" name="Google Shape;225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38" name="Google Shape;238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45" name="Google Shape;245;p3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52" name="Google Shape;252;p3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59" name="Google Shape;259;p3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66" name="Google Shape;266;p3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81" name="Google Shape;281;p3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87" name="Google Shape;287;p3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98" name="Google Shape;298;p3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05" name="Google Shape;305;p4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12" name="Google Shape;312;p4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19" name="Google Shape;319;p4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5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8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59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59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59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59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59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6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60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60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Relationship Id="rId4" Type="http://schemas.openxmlformats.org/officeDocument/2006/relationships/image" Target="../media/image44.png"/><Relationship Id="rId5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spring.io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Relationship Id="rId4" Type="http://schemas.openxmlformats.org/officeDocument/2006/relationships/hyperlink" Target="https://spring.io/projects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4.png"/><Relationship Id="rId4" Type="http://schemas.openxmlformats.org/officeDocument/2006/relationships/image" Target="../media/image4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baeldung.com/" TargetMode="External"/><Relationship Id="rId4" Type="http://schemas.openxmlformats.org/officeDocument/2006/relationships/hyperlink" Target="https://spring.io/projects/spring-boot" TargetMode="External"/><Relationship Id="rId5" Type="http://schemas.openxmlformats.org/officeDocument/2006/relationships/hyperlink" Target="https://spring.io/guides#getting-started-guides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Java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 quy.nguyenquang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March 2023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Top-down Coding &amp; Bottom-up Coding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SOLID principles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IoC &amp; DI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core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introduction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Cross Origin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 Coding &amp; Bottom-up Coding</a:t>
            </a:r>
            <a:endParaRPr/>
          </a:p>
        </p:txBody>
      </p:sp>
      <p:pic>
        <p:nvPicPr>
          <p:cNvPr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5281" y="2526416"/>
            <a:ext cx="4636957" cy="884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7823" y="2106488"/>
            <a:ext cx="4883284" cy="988525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7115862" y="11893355"/>
            <a:ext cx="313579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Bottom-up coding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2415230" y="11991747"/>
            <a:ext cx="30684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 coding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 Coding &amp; Bottom-up Coding</a:t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1750573" y="2533651"/>
            <a:ext cx="15992678" cy="927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Bottom-up Coding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Dễ bị sót yêu cầu của Khách hàng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Đối tượng: Người mới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Top-down Coding (Khuyến kích)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Tập trung vào yêu cầu của Khách hàng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Đối tượng: Người có kinh nghiệm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1200150" y="571498"/>
            <a:ext cx="6897103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Nguyên tắc SOLID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984037" y="2436373"/>
            <a:ext cx="21576354" cy="9762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làm cho việc bảo trì, update dễ dàng hơn nhưng mất nhiều thời gian để viết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Các nguyên tắc: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ingle responsibility(Đơn nhiệm)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pen/closed(Mở/Đóng)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iskov substitution(Sự thay thế khả dĩ)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4.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nterface segregation(Sự tách biệt Interface)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ependency inversion(Đảo ngược sự phụ thuộc)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Principles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712068" y="2708748"/>
            <a:ext cx="22168658" cy="2446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Single responsibility(Đơn nhiệm)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Một class nên giữ một nhiệm vụ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838" y="6340408"/>
            <a:ext cx="8740804" cy="466470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10272408" y="8015591"/>
            <a:ext cx="2918298" cy="136187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2206" y="6340408"/>
            <a:ext cx="7961745" cy="466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Principles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1517514" y="2629187"/>
            <a:ext cx="22671932" cy="5004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Open/closed(Mở/đóng)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thể phát triển Lớp thoải mái, nhưng không chỉnh sửa trong Lớp đó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muốn thêm tính năng vào dự án, thì nên viết một Lớp mới mà kế thừa từ lớp cũ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78" y="8165728"/>
            <a:ext cx="8065410" cy="274595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9114059" y="8968902"/>
            <a:ext cx="1692613" cy="13035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943" y="8463064"/>
            <a:ext cx="12829057" cy="2217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Principles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1517514" y="2629187"/>
            <a:ext cx="22671932" cy="3020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 Liskov substitution(Sự thay thế khả dĩ)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một chương trình, các đối tượng của lớp con có thể thay thể lớp cha mà không làm thay đổi tính đúng đắn của chương trình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1517514" y="5897681"/>
            <a:ext cx="19428626" cy="2584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4. Interface segregation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Chia interface lớn thành nhiều interface nhỏ với các mục đích cụ thể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Principles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1614789" y="2629185"/>
            <a:ext cx="23137805" cy="689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 Dependency inversion(Đảo ngược sự phụ thuộc)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tính năng ở mức cao sẽ không phụ thuộc vào tính năng mức thấp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🡺 Cả 2 tính năng này nên phụ thuộc vào abstraction/interface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(abstraction)  không phụ thuộc vào chi tiết, nhưng ngược lại.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lớp giao tiếp với nhau thông qua các interface.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9695" y="9526771"/>
            <a:ext cx="3237136" cy="2976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1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/>
        </p:nvSpPr>
        <p:spPr>
          <a:xfrm>
            <a:off x="1200150" y="571498"/>
            <a:ext cx="15087600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Inversion of Control(Đảo ngược điều khiển)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1750573" y="2533651"/>
            <a:ext cx="21965462" cy="9158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một mẫu thiết kế để làm cho code phù hợp với Đảo ngược sự phụ thuộc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Cung cấp một cơ chế đơn giản để quản lý các sự phụ thuộc và để khởi tạo đối tượng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Có 2 cách: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Dependency Injection(DI)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Dependency Lookup (Tự nghiên cứu)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750573" y="2533651"/>
            <a:ext cx="3541274" cy="948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Vấn đề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227" y="4492153"/>
            <a:ext cx="23949189" cy="6192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1200150" y="2217706"/>
            <a:ext cx="22633428" cy="190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thay đổi code trong tính năng ở mức thấp thì  cũng phải thay đổi thay đổi tính năng ở mức cao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4260" y="3634548"/>
            <a:ext cx="18478378" cy="8864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200150" y="2217706"/>
            <a:ext cx="4188973" cy="93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DI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254" y="3443589"/>
            <a:ext cx="23946598" cy="63229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10899457" y="10116408"/>
            <a:ext cx="30925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Component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510057" y="11789565"/>
            <a:ext cx="46650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DIContainer &amp; Bean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0238" y="3208363"/>
            <a:ext cx="11425143" cy="460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/>
          <p:nvPr/>
        </p:nvSpPr>
        <p:spPr>
          <a:xfrm>
            <a:off x="17979958" y="7380084"/>
            <a:ext cx="11657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292" y="3385166"/>
            <a:ext cx="12476757" cy="840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764356" y="2451166"/>
            <a:ext cx="4188973" cy="93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951" y="3151762"/>
            <a:ext cx="23589099" cy="920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655" y="1704150"/>
            <a:ext cx="17523495" cy="105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11106848" y="12049361"/>
            <a:ext cx="16433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1764356" y="2451165"/>
            <a:ext cx="6893261" cy="1634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Changing code</a:t>
            </a:r>
            <a:endParaRPr/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6001" y="3701888"/>
            <a:ext cx="17332211" cy="8807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424" y="2664049"/>
            <a:ext cx="23044056" cy="7413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1750573" y="2533650"/>
            <a:ext cx="21965462" cy="10092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Các tính năng phụ thuộc sẽ được tiêm vào các tính năng ở mức cao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 được sử dụng để giảm thiểu sử phụ thuộc giữa các tính năng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🡺 Dễ dàng hơn trong việc thay đổi tính năng, bảo trì code và kiểm thử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Có 3 cách tiêm: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Constructor Injection(Tiêm vào hàm khởi tạo)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Setter Injection(Tiêm vào hàm set)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 Injection (Tự nghiên cứu)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1750572" y="2533650"/>
            <a:ext cx="10936727" cy="1085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Constructor Injection(Tiêm vào hàm khởi tạo)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8046" y="3482501"/>
            <a:ext cx="16052567" cy="31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/>
        </p:nvSpPr>
        <p:spPr>
          <a:xfrm>
            <a:off x="1552778" y="6938509"/>
            <a:ext cx="9019972" cy="1085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Setter Injection(Tiêm vào hàm set)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7217" y="7648185"/>
            <a:ext cx="11784381" cy="4881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Injection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1750572" y="2533650"/>
            <a:ext cx="10486823" cy="1357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Ưu và nhược điểm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6" name="Google Shape;196;p24"/>
          <p:cNvGraphicFramePr/>
          <p:nvPr/>
        </p:nvGraphicFramePr>
        <p:xfrm>
          <a:off x="3849989" y="4708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{EF58576A-922B-4280-8FC9-9B384B1DEBE4}</a:tableStyleId>
              </a:tblPr>
              <a:tblGrid>
                <a:gridCol w="7278450"/>
                <a:gridCol w="9319100"/>
              </a:tblGrid>
              <a:tr h="133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Times New Roman"/>
                        <a:buNone/>
                      </a:pPr>
                      <a:r>
                        <a:rPr b="1" lang="en-US" sz="4000" u="none" cap="none" strike="noStrike"/>
                        <a:t>Ưu điểm</a:t>
                      </a:r>
                      <a:endParaRPr b="1" sz="4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Times New Roman"/>
                        <a:buNone/>
                      </a:pPr>
                      <a:r>
                        <a:rPr b="1" lang="en-US" sz="4000" u="none" cap="none" strike="noStrike"/>
                        <a:t>Nhược điểm</a:t>
                      </a:r>
                      <a:endParaRPr b="1" sz="4000" u="none" cap="none" strike="noStrike"/>
                    </a:p>
                  </a:txBody>
                  <a:tcPr marT="45725" marB="45725" marR="91450" marL="91450"/>
                </a:tc>
              </a:tr>
              <a:tr h="10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0"/>
                        <a:buFont typeface="Times New Roman"/>
                        <a:buNone/>
                      </a:pPr>
                      <a:r>
                        <a:rPr lang="en-US" sz="3500" u="none" cap="none" strike="noStrike"/>
                        <a:t>Giảm thiểu sự phụ thuộc giữa các tính năng</a:t>
                      </a:r>
                      <a:endParaRPr sz="35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0"/>
                        <a:buFont typeface="Times New Roman"/>
                        <a:buNone/>
                      </a:pPr>
                      <a:r>
                        <a:rPr lang="en-US" sz="3500" u="none" cap="none" strike="noStrike"/>
                        <a:t>Khái niệm về DI khó hiểu</a:t>
                      </a:r>
                      <a:endParaRPr sz="3500" u="none" cap="none" strike="noStrike"/>
                    </a:p>
                  </a:txBody>
                  <a:tcPr marT="45725" marB="45725" marR="91450" marL="91450"/>
                </a:tc>
              </a:tr>
              <a:tr h="192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0"/>
                        <a:buFont typeface="Times New Roman"/>
                        <a:buNone/>
                      </a:pPr>
                      <a:r>
                        <a:rPr lang="en-US" sz="3500" u="none" cap="none" strike="noStrike"/>
                        <a:t>Dễ bảo trì</a:t>
                      </a:r>
                      <a:endParaRPr sz="35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0"/>
                        <a:buFont typeface="Times New Roman"/>
                        <a:buNone/>
                      </a:pPr>
                      <a:r>
                        <a:rPr lang="en-US" sz="3500" u="none" cap="none" strike="noStrike"/>
                        <a:t>Sử dụng interface 🡺 khó debug</a:t>
                      </a:r>
                      <a:endParaRPr sz="3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0"/>
                        <a:buFont typeface="Times New Roman"/>
                        <a:buNone/>
                      </a:pPr>
                      <a:r>
                        <a:rPr lang="en-US" sz="3500" u="none" cap="none" strike="noStrike"/>
                        <a:t>(không biết chính xác tính năng nào được gọi)</a:t>
                      </a:r>
                      <a:endParaRPr sz="35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/>
        </p:nvSpPr>
        <p:spPr>
          <a:xfrm>
            <a:off x="1200151" y="571498"/>
            <a:ext cx="5501592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1750573" y="2475287"/>
            <a:ext cx="14708627" cy="890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Bean, Spring Component, Spring IOC container 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40" y="3599436"/>
            <a:ext cx="23917944" cy="739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14291"/>
            <a:ext cx="24310490" cy="838068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/>
          <p:nvPr/>
        </p:nvSpPr>
        <p:spPr>
          <a:xfrm>
            <a:off x="10791859" y="10920952"/>
            <a:ext cx="22733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@Autowired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744" y="3802149"/>
            <a:ext cx="21751959" cy="6178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1750574" y="2533652"/>
            <a:ext cx="4844780" cy="987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 phổ biến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7329" y="3385226"/>
            <a:ext cx="22635087" cy="913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/>
        </p:nvSpPr>
        <p:spPr>
          <a:xfrm>
            <a:off x="1200150" y="571498"/>
            <a:ext cx="4911283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517109" y="2533651"/>
            <a:ext cx="8058330" cy="559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Thành phần của Spring Core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Component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@Scope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@Autowired &amp; @Qualifier</a:t>
            </a:r>
            <a:endParaRPr/>
          </a:p>
        </p:txBody>
      </p:sp>
      <p:pic>
        <p:nvPicPr>
          <p:cNvPr id="242" name="Google Shape;2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5439" y="2102787"/>
            <a:ext cx="14434941" cy="964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1750572" y="2533652"/>
            <a:ext cx="22633428" cy="6686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component(các thành phần trong spring)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@RestController, @Service, @Repository: using for Controller, Service, Repository Object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@Component: using for Other Object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@Configuration, @Bean: using for IOC Container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What's the difference between @Component, @Repository &amp; @Service  annotations in Spring? - Stack Overflow" id="249" name="Google Shape;24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944" y="8225100"/>
            <a:ext cx="8899052" cy="3681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1750572" y="2533652"/>
            <a:ext cx="6098028" cy="1047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@Component</a:t>
            </a:r>
            <a:endParaRPr/>
          </a:p>
        </p:txBody>
      </p:sp>
      <p:pic>
        <p:nvPicPr>
          <p:cNvPr id="256" name="Google Shape;2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601" y="4591052"/>
            <a:ext cx="23368000" cy="42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1750572" y="2533652"/>
            <a:ext cx="6098028" cy="1047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@Configuration</a:t>
            </a:r>
            <a:endParaRPr/>
          </a:p>
        </p:txBody>
      </p:sp>
      <p:pic>
        <p:nvPicPr>
          <p:cNvPr id="263" name="Google Shape;2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312" y="3406302"/>
            <a:ext cx="19244317" cy="912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1750572" y="2533652"/>
            <a:ext cx="6098028" cy="1047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@Scope</a:t>
            </a:r>
            <a:endParaRPr/>
          </a:p>
        </p:txBody>
      </p:sp>
      <p:pic>
        <p:nvPicPr>
          <p:cNvPr id="270" name="Google Shape;2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108" y="8484445"/>
            <a:ext cx="9981519" cy="3344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1737" y="8484445"/>
            <a:ext cx="10046083" cy="3344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3274" y="3581400"/>
            <a:ext cx="19124115" cy="452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7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1750571" y="2533651"/>
            <a:ext cx="15299179" cy="10404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@Autowired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Có 3 cách: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▪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Field(Thông qua thuộc tính)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▪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Constructor (Thông qua hàm khởi tạo)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▪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Setter(Thông qua hàm set)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@Qualifier &amp; @Primary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2979" y="1868140"/>
            <a:ext cx="9636463" cy="178979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/>
          <p:nvPr/>
        </p:nvSpPr>
        <p:spPr>
          <a:xfrm>
            <a:off x="10815699" y="3816637"/>
            <a:ext cx="16546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Field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7962" y="9025719"/>
            <a:ext cx="8904883" cy="273754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8"/>
          <p:cNvSpPr/>
          <p:nvPr/>
        </p:nvSpPr>
        <p:spPr>
          <a:xfrm>
            <a:off x="10806606" y="11950794"/>
            <a:ext cx="174759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Setter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38"/>
          <p:cNvSpPr/>
          <p:nvPr/>
        </p:nvSpPr>
        <p:spPr>
          <a:xfrm>
            <a:off x="10223656" y="8235117"/>
            <a:ext cx="27751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Constructor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5" name="Google Shape;29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1149" y="4839499"/>
            <a:ext cx="10392217" cy="3208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1750571" y="2533651"/>
            <a:ext cx="8113276" cy="2176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@Qualifier &amp; @Primary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4179" y="4710248"/>
            <a:ext cx="15813931" cy="799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0" y="3794191"/>
            <a:ext cx="22554121" cy="523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/>
          <p:nvPr/>
        </p:nvSpPr>
        <p:spPr>
          <a:xfrm>
            <a:off x="11916801" y="9246504"/>
            <a:ext cx="11208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41"/>
          <p:cNvSpPr txBox="1"/>
          <p:nvPr/>
        </p:nvSpPr>
        <p:spPr>
          <a:xfrm>
            <a:off x="1750571" y="2533651"/>
            <a:ext cx="7179420" cy="2333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Sửa bằng @Qualifier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6" name="Google Shape;31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107" y="4089062"/>
            <a:ext cx="21964215" cy="5210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Core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2"/>
          <p:cNvSpPr txBox="1"/>
          <p:nvPr/>
        </p:nvSpPr>
        <p:spPr>
          <a:xfrm>
            <a:off x="1750571" y="2533651"/>
            <a:ext cx="7179420" cy="2333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Sửa bằng @Primary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3" name="Google Shape;3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1043" y="3700463"/>
            <a:ext cx="12175389" cy="7116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Introduction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4"/>
          <p:cNvSpPr txBox="1"/>
          <p:nvPr/>
        </p:nvSpPr>
        <p:spPr>
          <a:xfrm>
            <a:off x="1847850" y="2533650"/>
            <a:ext cx="22200870" cy="90228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 platform(Nền tảng Java), Open-source(mã nguồn mở)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Cung cấp hạ tầng hỗ trợ phát triển ứng dụng Java)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Thiết kết dựa vào DI &amp; IOC, AOP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Home Page: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Introduction(Giới thiệu Spring)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45"/>
          <p:cNvSpPr txBox="1"/>
          <p:nvPr/>
        </p:nvSpPr>
        <p:spPr>
          <a:xfrm>
            <a:off x="1847850" y="2533651"/>
            <a:ext cx="5673090" cy="1398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 tính năng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docs.spring.io/spring-framework/docs/3.2.x/spring-framework-reference/html/images/spring-overview.png" id="342" name="Google Shape;34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0145" y="3559174"/>
            <a:ext cx="11689806" cy="901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Introduction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46"/>
          <p:cNvSpPr txBox="1"/>
          <p:nvPr/>
        </p:nvSpPr>
        <p:spPr>
          <a:xfrm>
            <a:off x="1847850" y="2533650"/>
            <a:ext cx="9391650" cy="6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dự án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Core (Current Lesson)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Boot (Previous Lesson)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Data (Next Lesson)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Security (Next Lesson)</a:t>
            </a:r>
            <a:endParaRPr/>
          </a:p>
        </p:txBody>
      </p:sp>
      <p:pic>
        <p:nvPicPr>
          <p:cNvPr id="349" name="Google Shape;34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7570" y="2672662"/>
            <a:ext cx="3400564" cy="835013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6"/>
          <p:cNvSpPr/>
          <p:nvPr/>
        </p:nvSpPr>
        <p:spPr>
          <a:xfrm>
            <a:off x="14287500" y="11219588"/>
            <a:ext cx="46249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https://spring.io/projects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Introduction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2038350" y="2422465"/>
            <a:ext cx="18333631" cy="7168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Core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IOC &amp; DI Spring Boot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Spring Boot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 triển và chạy ứng dụng nhanh hơn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Dễ để tạo Dự án bằng Spring, tự động cấu hình tomcat (máy chủ), libraries, ...</a:t>
            </a:r>
            <a:endParaRPr/>
          </a:p>
        </p:txBody>
      </p:sp>
      <p:pic>
        <p:nvPicPr>
          <p:cNvPr id="357" name="Google Shape;35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6652" y="2838450"/>
            <a:ext cx="1230085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9037" y="9220200"/>
            <a:ext cx="15614165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48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@CrossOrigin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5" name="Google Shape;36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571" y="5083118"/>
            <a:ext cx="10123131" cy="512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44737" y="2838450"/>
            <a:ext cx="7739063" cy="8860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8346" y="2933586"/>
            <a:ext cx="18948320" cy="712481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9"/>
          <p:cNvSpPr/>
          <p:nvPr/>
        </p:nvSpPr>
        <p:spPr>
          <a:xfrm>
            <a:off x="11942095" y="9831279"/>
            <a:ext cx="11208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9" name="Google Shape;37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669" y="4843378"/>
            <a:ext cx="7750056" cy="404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7440" y="2644658"/>
            <a:ext cx="13120231" cy="8309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6" name="Google Shape;38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9403" y="1800186"/>
            <a:ext cx="7772401" cy="2812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82400" y="1800186"/>
            <a:ext cx="7518504" cy="276310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1"/>
          <p:cNvSpPr/>
          <p:nvPr/>
        </p:nvSpPr>
        <p:spPr>
          <a:xfrm>
            <a:off x="9409373" y="4879639"/>
            <a:ext cx="43460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to Each Controller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51"/>
          <p:cNvSpPr/>
          <p:nvPr/>
        </p:nvSpPr>
        <p:spPr>
          <a:xfrm>
            <a:off x="9889470" y="11879700"/>
            <a:ext cx="4140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to All Controllers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0" name="Google Shape;39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8563" y="5731565"/>
            <a:ext cx="16609620" cy="614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52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3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2" name="Google Shape;40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8238" y="1942616"/>
            <a:ext cx="11946781" cy="10077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4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54"/>
          <p:cNvSpPr txBox="1"/>
          <p:nvPr/>
        </p:nvSpPr>
        <p:spPr>
          <a:xfrm>
            <a:off x="1200150" y="2697075"/>
            <a:ext cx="12866046" cy="5571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https://www.baeldung.com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https://spring.io/projects/spring-boot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https://spring.io/guides#getting-started-guides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15" name="Google Shape;415;p5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