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h7IcW8lvRhSbXvf9ciEw4zglfH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15" name="Google Shape;115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47" name="Google Shape;147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09" name="Google Shape;209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6" name="Google Shape;216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68" name="Google Shape;268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75" name="Google Shape;275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82" name="Google Shape;282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89" name="Google Shape;289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96" name="Google Shape;296;p3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07" name="Google Shape;307;p3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14" name="Google Shape;314;p3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21" name="Google Shape;321;p3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28" name="Google Shape;328;p3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35" name="Google Shape;335;p4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47" name="Google Shape;347;p4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54" name="Google Shape;354;p4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60" name="Google Shape;360;p4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68" name="Google Shape;368;p4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375" name="Google Shape;375;p4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5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3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53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54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54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54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54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54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5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55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55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55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hyperlink" Target="https://spring.io/quickstar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48.png"/><Relationship Id="rId7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microsoft.com/en-us/azure/architecture/best-practices/api-design" TargetMode="External"/><Relationship Id="rId4" Type="http://schemas.openxmlformats.org/officeDocument/2006/relationships/hyperlink" Target="https://docs.microsoft.com/en-us/azure/architecture/best-practices/api-design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Relationship Id="rId4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postman.com/downloads" TargetMode="External"/><Relationship Id="rId4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spring.io/guides/gs/rest-service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Relationship Id="rId4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baeldung.com/" TargetMode="External"/><Relationship Id="rId4" Type="http://schemas.openxmlformats.org/officeDocument/2006/relationships/hyperlink" Target="https://spring.io/projects/spring-boot" TargetMode="External"/><Relationship Id="rId5" Type="http://schemas.openxmlformats.org/officeDocument/2006/relationships/hyperlink" Target="https://spring.io/guides#getting-started-guides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Java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March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Setup spring tool suite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HelloWorld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few concepts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Layers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Spring tool suite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452749" y="2624118"/>
            <a:ext cx="11347582" cy="1144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View Setup spring tool suite slide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429" y="4768387"/>
            <a:ext cx="17585071" cy="4554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601035" y="2265848"/>
            <a:ext cx="19239665" cy="66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1: Create Spring Starter Project 🡺 Install library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2: Create Controller file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3: Start Server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4: Access API</a:t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571" y="6210300"/>
            <a:ext cx="11256924" cy="269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4038" y="3072477"/>
            <a:ext cx="9453563" cy="95283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1474571" y="2188547"/>
            <a:ext cx="14375029" cy="1030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1: Create Spring Starter Project 🡺 Install library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2062" y="3938255"/>
            <a:ext cx="6991350" cy="776816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4555249" y="11720591"/>
            <a:ext cx="248497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4496" y="3284780"/>
            <a:ext cx="8901112" cy="825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069" y="3538660"/>
            <a:ext cx="10441837" cy="87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1852" y="5353132"/>
            <a:ext cx="11398150" cy="516263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/>
        </p:nvSpPr>
        <p:spPr>
          <a:xfrm>
            <a:off x="1601035" y="2265849"/>
            <a:ext cx="4418765" cy="1010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library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9619" y="5395573"/>
            <a:ext cx="5992045" cy="3603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38778" y="3581400"/>
            <a:ext cx="13159322" cy="733019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/>
        </p:nvSpPr>
        <p:spPr>
          <a:xfrm>
            <a:off x="1601035" y="2265849"/>
            <a:ext cx="8552615" cy="972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2: Create Controller file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950" y="3494753"/>
            <a:ext cx="10452149" cy="908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5650" y="5712508"/>
            <a:ext cx="13243248" cy="35858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1601035" y="2265849"/>
            <a:ext cx="8324015" cy="78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3: Start Server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HelloWorld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7352" y="4981330"/>
            <a:ext cx="8211937" cy="387320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8048151" y="8854534"/>
            <a:ext cx="833034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https://spring.io/quickstart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1601035" y="2265849"/>
            <a:ext cx="8324015" cy="78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Step 4: Access API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concepts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1597929" y="2639731"/>
            <a:ext cx="7831821" cy="7273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&amp; Web service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JSON &amp; XML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&amp; Restful API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&amp; Web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11623364" y="11924513"/>
            <a:ext cx="1916956" cy="796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8035" y="5975505"/>
            <a:ext cx="11065962" cy="598243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/>
          <p:nvPr/>
        </p:nvSpPr>
        <p:spPr>
          <a:xfrm>
            <a:off x="1578879" y="2359100"/>
            <a:ext cx="17748212" cy="39170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(Rarely, Old)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Enter the URL and the Brower returns a web page that the user can read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Ex: JSP &amp; Servlet, Spring MVC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&amp; Web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10327712" y="9398587"/>
            <a:ext cx="3511128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JSP &amp; Servlet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928" y="3684749"/>
            <a:ext cx="17326697" cy="556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&amp; Web Service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4034862" y="11666980"/>
            <a:ext cx="5840848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frontend types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317163" y="2249831"/>
            <a:ext cx="24624556" cy="2279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eb Service &amp; API Testing | TestArchitect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6901" y="6677247"/>
            <a:ext cx="7236769" cy="494464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5344333" y="11621890"/>
            <a:ext cx="3570656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service </a:t>
            </a:r>
            <a:endParaRPr b="1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9724" y="6722337"/>
            <a:ext cx="9099873" cy="494464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585001" y="2204741"/>
            <a:ext cx="22798999" cy="3916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service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Usually provide raw and confusing information for most users (usually return in JSON, XML)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backend can provide services to multiple frontend types (ex: mobile, web, tv, ...)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&amp; XML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200150" y="2303302"/>
            <a:ext cx="17297400" cy="3910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JSON (JavaScript Object Notation)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Doesn't use the tag 🡺 shorter than XML 🡺 quicker loading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for sending data between 2 application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8024" y="7530527"/>
            <a:ext cx="8922632" cy="269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0921040" y="11648696"/>
            <a:ext cx="1999232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20656" y="6107954"/>
            <a:ext cx="8339528" cy="5540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&amp; XML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2669" y="5619751"/>
            <a:ext cx="10356873" cy="528388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1432639" y="11629303"/>
            <a:ext cx="1999232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XML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200150" y="2213856"/>
            <a:ext cx="13449300" cy="23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XML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for application configuration, html, css, ...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47077" y="5140866"/>
            <a:ext cx="9790081" cy="624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504950" y="2452389"/>
            <a:ext cx="13449300" cy="238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(Application Programming Interface)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for transfer data between 2 application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567" y="5095792"/>
            <a:ext cx="23223989" cy="6812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standard used in designing APIs for web applications to manage resources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estful api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4494" y="5095792"/>
            <a:ext cx="15547974" cy="6595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504950" y="2452388"/>
            <a:ext cx="22212606" cy="10242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Use plural nouns, don't use verbs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Use HTTP request method to separate User Action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GET: for reading data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POST: for creating data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PUT: for updating data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▪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DELETE: for removing data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46242" y="2626633"/>
            <a:ext cx="4492862" cy="229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Use sub-resources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463387" y="6716026"/>
            <a:ext cx="12273878" cy="109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Providing Paging, Sort, Filter, field Choosing</a:t>
            </a:r>
            <a:endParaRPr/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013" y="4776041"/>
            <a:ext cx="11640416" cy="132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4799" y="7439294"/>
            <a:ext cx="5844022" cy="60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4798" y="8194600"/>
            <a:ext cx="6654513" cy="75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02451" y="8955729"/>
            <a:ext cx="13221568" cy="164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8067" y="10580698"/>
            <a:ext cx="9730223" cy="81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Providing version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504949" y="5860473"/>
            <a:ext cx="119202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Handling Exception</a:t>
            </a:r>
            <a:endParaRPr/>
          </a:p>
        </p:txBody>
      </p:sp>
      <p:pic>
        <p:nvPicPr>
          <p:cNvPr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8564" y="4776828"/>
            <a:ext cx="3193473" cy="75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1175" y="6829133"/>
            <a:ext cx="7935432" cy="316274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4990275" y="10068869"/>
            <a:ext cx="3821216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Error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2189" y="6857999"/>
            <a:ext cx="11041266" cy="3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1504950" y="2452389"/>
            <a:ext cx="17272148" cy="2778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HATEOAS (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ypermedia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ngine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pplication </a:t>
            </a:r>
            <a:r>
              <a:rPr b="1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tate)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3133" y="4839999"/>
            <a:ext cx="7082704" cy="7483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4480" y="4705563"/>
            <a:ext cx="20440650" cy="7269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604559" y="11975317"/>
            <a:ext cx="154604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Lesson: Designing for paging, sort, filter, handling error, HATEOAS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1504950" y="2452389"/>
            <a:ext cx="22694752" cy="6074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Restful API design principles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https://www.laurencegellert.com/2016/08/webservice-api-design-tips-correct-pagination-and-exposing-deleted-rows/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https://docs.microsoft.com/en-us/azure/architecture/best-practices/api-design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1504950" y="2452390"/>
            <a:ext cx="13067084" cy="101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Restful API with 3 Layer Spring boot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5190" y="5428077"/>
            <a:ext cx="10650896" cy="418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5309" y="3463047"/>
            <a:ext cx="9786025" cy="821904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/>
          <p:nvPr/>
        </p:nvSpPr>
        <p:spPr>
          <a:xfrm>
            <a:off x="10686074" y="11682093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Repository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" y="2286367"/>
            <a:ext cx="10349985" cy="9196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8019" y="2286367"/>
            <a:ext cx="11401830" cy="8150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/>
          <p:nvPr/>
        </p:nvSpPr>
        <p:spPr>
          <a:xfrm>
            <a:off x="10579749" y="11483023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9771" y="1595335"/>
            <a:ext cx="14718815" cy="1017981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9"/>
          <p:cNvSpPr/>
          <p:nvPr/>
        </p:nvSpPr>
        <p:spPr>
          <a:xfrm>
            <a:off x="10677930" y="11740458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Controller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1504950" y="2452390"/>
            <a:ext cx="9604038" cy="227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 (postman)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https://www.postman.com/downloads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8110" y="4870720"/>
            <a:ext cx="15244864" cy="689974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/>
          <p:nvPr/>
        </p:nvSpPr>
        <p:spPr>
          <a:xfrm>
            <a:off x="11375281" y="11848292"/>
            <a:ext cx="199052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all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10830532" y="10905663"/>
            <a:ext cx="272982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by ID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8117" y="2393712"/>
            <a:ext cx="16874653" cy="816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11180728" y="11019368"/>
            <a:ext cx="19710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6028" y="2453233"/>
            <a:ext cx="16860466" cy="8566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1199" y="2016013"/>
            <a:ext cx="16402694" cy="9107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3"/>
          <p:cNvSpPr/>
          <p:nvPr/>
        </p:nvSpPr>
        <p:spPr>
          <a:xfrm>
            <a:off x="11404735" y="11187715"/>
            <a:ext cx="21556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4"/>
          <p:cNvSpPr/>
          <p:nvPr/>
        </p:nvSpPr>
        <p:spPr>
          <a:xfrm>
            <a:off x="11253165" y="10906070"/>
            <a:ext cx="21556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694" y="3268236"/>
            <a:ext cx="19926563" cy="7637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5"/>
          <p:cNvSpPr txBox="1"/>
          <p:nvPr/>
        </p:nvSpPr>
        <p:spPr>
          <a:xfrm>
            <a:off x="1504950" y="2452390"/>
            <a:ext cx="3183782" cy="101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Explain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9666252" y="11040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@Autowired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1" name="Google Shape;30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1463" y="6956947"/>
            <a:ext cx="10028991" cy="3432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11463" y="3678075"/>
            <a:ext cx="9936492" cy="266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054" y="4923215"/>
            <a:ext cx="9834623" cy="303321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/>
          <p:nvPr/>
        </p:nvSpPr>
        <p:spPr>
          <a:xfrm>
            <a:off x="10875523" y="6070060"/>
            <a:ext cx="2295728" cy="114786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923" y="3561170"/>
            <a:ext cx="23751391" cy="649020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6"/>
          <p:cNvSpPr/>
          <p:nvPr/>
        </p:nvSpPr>
        <p:spPr>
          <a:xfrm>
            <a:off x="9376618" y="10223059"/>
            <a:ext cx="589800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@GetMapping &amp; URL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8" y="3977921"/>
            <a:ext cx="22177581" cy="43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/>
          <p:nvPr/>
        </p:nvSpPr>
        <p:spPr>
          <a:xfrm>
            <a:off x="10069513" y="8373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@PathVariable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9680407" y="8373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@RequestBody</a:t>
            </a:r>
            <a:endParaRPr b="0" i="1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462" y="2295825"/>
            <a:ext cx="23152206" cy="598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1504950" y="2452390"/>
            <a:ext cx="6553200" cy="95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Postman Organization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0" y="3329538"/>
            <a:ext cx="17335500" cy="92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&amp; Restful API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1504950" y="2452390"/>
            <a:ext cx="13067084" cy="101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Reference: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https://spring.io/guides/gs/rest-service/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41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2"/>
          <p:cNvSpPr txBox="1"/>
          <p:nvPr/>
        </p:nvSpPr>
        <p:spPr>
          <a:xfrm>
            <a:off x="1847850" y="2533650"/>
            <a:ext cx="10780755" cy="969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 Request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Header (cookie, Authorization,…)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 (GET, POST, PUT, DELETE, ...)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&amp; Body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 Response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Header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Status Code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ct val="14500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&amp; Body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1" name="Google Shape;3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7674" y="5757353"/>
            <a:ext cx="16063618" cy="6607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7" name="Google Shape;35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666" y="1797628"/>
            <a:ext cx="20273770" cy="10505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1847850" y="2533650"/>
            <a:ext cx="8356023" cy="6672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 Request Method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GET: Get resource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POST: create resource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PUT: update resource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DELTE: delete resource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13143" y="3168692"/>
            <a:ext cx="8766203" cy="397740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4"/>
          <p:cNvSpPr txBox="1"/>
          <p:nvPr/>
        </p:nvSpPr>
        <p:spPr>
          <a:xfrm>
            <a:off x="17396244" y="7240103"/>
            <a:ext cx="2782900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 Response Status Code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164" y="3636819"/>
            <a:ext cx="20159857" cy="903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8" name="Google Shape;37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9324" y="2808762"/>
            <a:ext cx="18937587" cy="1378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7551" y="4887241"/>
            <a:ext cx="15195233" cy="58179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6"/>
          <p:cNvSpPr txBox="1"/>
          <p:nvPr/>
        </p:nvSpPr>
        <p:spPr>
          <a:xfrm>
            <a:off x="10385883" y="10705154"/>
            <a:ext cx="3678568" cy="1089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None/>
            </a:pPr>
            <a:r>
              <a:rPr b="0" i="1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Data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8"/>
          <p:cNvSpPr txBox="1"/>
          <p:nvPr/>
        </p:nvSpPr>
        <p:spPr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5700"/>
              <a:buFont typeface="Noto Sans Symbols"/>
              <a:buNone/>
            </a:pPr>
            <a:r>
              <a:rPr b="1" i="0" lang="en-US" sz="57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Assignments</a:t>
            </a:r>
            <a:endParaRPr b="1" i="0" sz="57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2558" y="2882277"/>
            <a:ext cx="11735731" cy="836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49"/>
          <p:cNvSpPr txBox="1"/>
          <p:nvPr/>
        </p:nvSpPr>
        <p:spPr>
          <a:xfrm>
            <a:off x="1200150" y="2697075"/>
            <a:ext cx="12866046" cy="5571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https://www.baeldung.com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https://spring.io/projects/spring-boot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4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https://spring.io/guides#getting-started-guides</a:t>
            </a:r>
            <a:r>
              <a:rPr b="0" i="0" lang="en-US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05" name="Google Shape;405;p5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